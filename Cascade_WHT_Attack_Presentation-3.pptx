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" cy="49971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2179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Cascade WHT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Attack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LFSR-Based Stream Ciphers  —  Updated Implementation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23744"/>
            <a:ext cx="530352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70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Progress Review — Applied Cryptography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2423160" cy="566928"/>
          </a:xfrm>
          <a:prstGeom prst="rect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(p=0.75)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4160520"/>
            <a:ext cx="2423160" cy="566928"/>
          </a:xfrm>
          <a:prstGeom prst="rect">
            <a:avLst/>
          </a:prstGeom>
          <a:solidFill>
            <a:srgbClr val="1E2761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Geffe Generator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4160520"/>
            <a:ext cx="2423160" cy="566928"/>
          </a:xfrm>
          <a:prstGeom prst="rect">
            <a:avLst/>
          </a:prstGeom>
          <a:solidFill>
            <a:srgbClr val="1E2761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41605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BSC-Degraded (p=0.56)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088136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AGENDA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Structure — 22 Slides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875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014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 &amp; Background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188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LFSR ciphers, standard correlation attack, the gap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4447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4447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447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1472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WHT Math Foundation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Spectral accumulator, WHT equivalence, O(L×2^L)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9019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9019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9019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1929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Attack Design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2103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3-stage cascade pipeline with complexity breakdown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3591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3591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2386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Failed &amp; Why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2560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FHT Hybrid: zero speedup, root cause analysis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8163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8163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8163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2843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 Journey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3017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What encouraged the redesign — 5-step story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2735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2735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2735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3300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Contribution Map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3474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My work vs prior art — drawing the hard line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37307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37307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7307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3758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3-Way Head-to-Head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Standard Corr vs FHT Hybrid vs My Cascade WHT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41879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1879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1879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" y="4215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Novelty Verdict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What is novel, what is not, CJM 2002 challenge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46451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6451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645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09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" y="4672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Combining Functions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580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Majority, Geffe, BSC-degraded — new code feature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9875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9875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9875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66360" y="1014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Theory-Driven N₁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66360" y="1188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Corollary 1 replaces arbitrary N/4 — new code feature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14447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14447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14447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66360" y="1472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FCA Implementation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66360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Meier-Staffelbach parity-check decoder — new code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09160" y="19019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19019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19019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166360" y="1929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Code Quality Improvements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166360" y="2103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Vectorization (W12), diagnostics (W10)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09160" y="23591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09160" y="23591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0916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13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166360" y="23865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Experimental Results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166360" y="2560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3-way × 3-modes × 4-lengths × 100 trials + 95% CI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09160" y="28163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09160" y="28163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09160" y="28163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166360" y="2843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Pruning Theorem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166360" y="3017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Formal proof + Monte Carlo validation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09160" y="32735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09160" y="32735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09160" y="32735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166360" y="3300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 Art Comparison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166360" y="34747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Positioning vs CJM 2002, M&amp;S, Siegenthaler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09160" y="37307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37307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09160" y="37307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16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166360" y="3758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Remaining Work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16636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Blocking: L≥20 scaling, paper writing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709160" y="4187952"/>
            <a:ext cx="4315968" cy="411480"/>
          </a:xfrm>
          <a:prstGeom prst="rect">
            <a:avLst/>
          </a:prstGeom>
          <a:solidFill>
            <a:srgbClr val="1A245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0" y="4187952"/>
            <a:ext cx="384048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41879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17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5166360" y="4215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Summary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5166360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Core idea, what's done, what's left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50876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MOTIVATION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The Algorithmic Gap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3977640" cy="365760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3977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Target: 40-bit Combining Generator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LFSRs combined via Majority / Geffe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LFSR 1: 14-bit, taps [0,2,5]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LFSR 2: 13-bit, taps [0,3]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LFSR 3: 13-bit, taps [0,1,4]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key: 40 bits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Majority: output = 1 if ≥ 2 of 3 output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per-LFSR correlation p = 0.75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Geffe: f(x₁,x₂,x₃) = x₁·x₂ ⊕ (1⊕x₁)·x₃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per-LFSR correlation p = {0.5, 0.75, 0.75}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Attacker observes N bits of keystream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Goal: recover all 3 LFSR initial states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70432"/>
            <a:ext cx="4526280" cy="365760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170432"/>
            <a:ext cx="45262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1704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The Attack Complexity Landscape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664208"/>
            <a:ext cx="4343400" cy="621792"/>
          </a:xfrm>
          <a:prstGeom prst="rect">
            <a:avLst/>
          </a:prstGeom>
          <a:solidFill>
            <a:srgbClr val="3A1C1C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 Correlation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9751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2^L)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377440"/>
            <a:ext cx="4343400" cy="621792"/>
          </a:xfrm>
          <a:prstGeom prst="rect">
            <a:avLst/>
          </a:prstGeom>
          <a:solidFill>
            <a:srgbClr val="2C1F0A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414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Meier-Staffelbach FCA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6883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checks × iters)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090672"/>
            <a:ext cx="4343400" cy="621792"/>
          </a:xfrm>
          <a:prstGeom prst="rect">
            <a:avLst/>
          </a:prstGeom>
          <a:solidFill>
            <a:srgbClr val="0C201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1272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Cascade WHT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401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O(L×2^L + √(2^L)×N)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822192"/>
            <a:ext cx="4343400" cy="960120"/>
          </a:xfrm>
          <a:prstGeom prst="rect">
            <a:avLst/>
          </a:prstGeom>
          <a:solidFill>
            <a:srgbClr val="1C3A1C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58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Key Question: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133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compute all 2^L seed correlations faster using the Walsh-Hadamard Transform + a two-stage cascade, without sacrificing accuracy?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MATH FOUNDATION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Reformulation — The Core Mathematical Insight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8686800" cy="841248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70432"/>
            <a:ext cx="502920" cy="8412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12161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LFSR as Linear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4996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LFSR length L and seed s, output bit at time t is:   z_t(s) = ⟨g_t , s⟩  mod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g_t = connection vector, determined ONLY by LFSR structure and t — NOT by seed 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8686800" cy="841248"/>
          </a:xfrm>
          <a:prstGeom prst="rect">
            <a:avLst/>
          </a:prstGeom>
          <a:solidFill>
            <a:srgbClr val="1A2456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103120"/>
            <a:ext cx="502920" cy="8412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1031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" y="21488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Spectral Accumulator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43230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Σ_{t: g_t = x} (-1)^{y_t}     — maps each unique connection vector to the sum of ±1 observed keystream values at the times it occurs.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035808"/>
            <a:ext cx="8686800" cy="841248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35808"/>
            <a:ext cx="502920" cy="8412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3580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" y="3081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WHT Equivalence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3649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Ĉ(s) = Σ_x f(x)·(-1)^{⟨x,s⟩} = WHT(f)[s]     ← ALL 2^L correlations in ONE transform!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 WHT (butterfly): O(L × 2^L) total, instead of O(N × 2^L) per seed.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968496"/>
            <a:ext cx="8686800" cy="841248"/>
          </a:xfrm>
          <a:prstGeom prst="rect">
            <a:avLst/>
          </a:prstGeom>
          <a:solidFill>
            <a:srgbClr val="1A2456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968496"/>
            <a:ext cx="502920" cy="8412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96849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4672" y="40142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47BC"/>
                </a:solidFill>
              </a:rPr>
              <a:t>Vectorized in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vectorized as:  np.add.at(f, indices, ks_signed)  then  fwht(f)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fwht() uses numpy reshape + butterfly in-place — no Python loop over 2^L seeds.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4228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ATTACK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Cascade Attack — Complete Pipeline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37160" y="1188720"/>
            <a:ext cx="2148840" cy="960120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18872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Keystream 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(N bits observed)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813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1078992"/>
            <a:ext cx="2697480" cy="1536192"/>
          </a:xfrm>
          <a:prstGeom prst="rect">
            <a:avLst/>
          </a:prstGeom>
          <a:solidFill>
            <a:srgbClr val="1A2456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078992"/>
            <a:ext cx="2697480" cy="31089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078992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5"/>
                </a:solidFill>
              </a:rPr>
              <a:t>STAGE 1: Spectral Pruning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0048" y="1426464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first N₁ bits  (theory-driven)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spectral accumulator f(x)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via  np.add.at(f, indices, ks)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WHT → Ĉ₁(s) for ALL 2^L seeds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top M = √(2^L) candidates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06040" y="26517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D700"/>
                </a:solidFill>
              </a:rPr>
              <a:t>O(n₁·L + L·2^L)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4813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1078992"/>
            <a:ext cx="2697480" cy="1536192"/>
          </a:xfrm>
          <a:prstGeom prst="rect">
            <a:avLst/>
          </a:prstGeom>
          <a:solidFill>
            <a:srgbClr val="1A245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1078992"/>
            <a:ext cx="2697480" cy="31089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1848" y="1078992"/>
            <a:ext cx="2660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5"/>
                </a:solidFill>
              </a:rPr>
              <a:t>STAGE 2: Precise Correlation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87568" y="1426464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M surviving candidates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N-bit LFSR sequence each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exact correlation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top K=5 seeds per LFSR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26517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</a:rPr>
              <a:t>O(M × N) = O(√(2^L) × 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999232"/>
            <a:ext cx="2743200" cy="1298448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999232"/>
            <a:ext cx="274320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29992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5"/>
                </a:solidFill>
              </a:rPr>
              <a:t>STAGE 3: Verification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70048" y="332841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all K³ = 125 combinations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against full keystream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match → correct 40-bit key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4334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FC3F7"/>
                </a:solidFill>
              </a:rPr>
              <a:t>O(K³ × N) — negligible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" y="3017520"/>
            <a:ext cx="2286000" cy="1234440"/>
          </a:xfrm>
          <a:prstGeom prst="rect">
            <a:avLst/>
          </a:prstGeom>
          <a:solidFill>
            <a:srgbClr val="1C3A1C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054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TOTAL COMPLEXITY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O(L×2^L + √(2^L)×N)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Standard: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2^L)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3017520"/>
            <a:ext cx="2697480" cy="91440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30175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Recovered 40-bit 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(3 LFSR seeds)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4848" y="26517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13048" y="26517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C3F7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7160" y="4370832"/>
            <a:ext cx="886968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L=14, N=500: Standard = 8,192,000 ops  │  Cascade WHT = ~355,876 ops  │  Speedup ~23× theoretical, 80× measured (numpy vectorization)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613916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613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WHAT FAILED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FHT Hybrid — Zero Speedup, Root Cause Found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3977640" cy="2971800"/>
          </a:xfrm>
          <a:prstGeom prst="rect">
            <a:avLst/>
          </a:prstGeom>
          <a:solidFill>
            <a:srgbClr val="1A2456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39776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fht_hybrid_attack() Actually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37947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For each of 2^L seeds: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Generate N-bit LFSR sequence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Compute full correlation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Keep top-K seeds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Verify K³ combinations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 'FHT':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called the WHT transform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O(N × 2^L) work as standard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difference: top-K vs top-1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70432"/>
            <a:ext cx="4526280" cy="2971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170432"/>
            <a:ext cx="45262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1704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Confirmed Zero Speedup — Experimental Data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572768"/>
          <a:ext cx="4361688" cy="1481328"/>
        </p:xfrm>
        <a:graphic>
          <a:graphicData uri="http://schemas.openxmlformats.org/drawingml/2006/table">
            <a:tbl>
              <a:tblPr/>
              <a:tblGrid>
                <a:gridCol w="841248"/>
                <a:gridCol w="1243584"/>
                <a:gridCol w="1243584"/>
                <a:gridCol w="1033272"/>
              </a:tblGrid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KS Bits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Corr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Hybrid 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Speedup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1699.9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1673.9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1.02×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4008.0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4007.6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1.00×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6537.6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6510.8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1.00×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12116.6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</a:rPr>
                        <a:t>12119.7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1.00×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389120" y="3127248"/>
            <a:ext cx="4526280" cy="1024128"/>
          </a:xfrm>
          <a:prstGeom prst="rect">
            <a:avLst/>
          </a:prstGeom>
          <a:solidFill>
            <a:srgbClr val="2C1F0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316382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</a:rPr>
              <a:t>Lesson: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80560" y="343814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requires TWO things simultaneously: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WHT computes all correlations in O(L×2^L) — not O(N×2^L)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Stage 1 uses only N₁ bits → Stage 2 tests only √(2^L) seeds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element alone is insufficient.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8600" y="4224528"/>
            <a:ext cx="3977640" cy="658368"/>
          </a:xfrm>
          <a:prstGeom prst="rect">
            <a:avLst/>
          </a:prstGeom>
          <a:solidFill>
            <a:srgbClr val="1C1020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26110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fix (W12): Spectral accumulator now uses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np.add.at(f, indices, ks_signed) — single vectorized call,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loop. Required for fair timing benchmarks.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244852" cy="320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24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THE TURNING POINT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Encouraged Me to Redesign — The 5-Step Journey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0"/>
            <a:ext cx="1609344" cy="3547872"/>
          </a:xfrm>
          <a:prstGeom prst="rect">
            <a:avLst/>
          </a:prstGeom>
          <a:solidFill>
            <a:srgbClr val="1E2030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280160"/>
            <a:ext cx="548640" cy="5486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340864"/>
            <a:ext cx="142646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414016"/>
            <a:ext cx="14447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FHT Hybrid. Claimed faster. Ran experiments expecting a clear speedup over standard correlation.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73936" y="2706624"/>
            <a:ext cx="155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9384" y="1188720"/>
            <a:ext cx="1609344" cy="3547872"/>
          </a:xfrm>
          <a:prstGeom prst="rect">
            <a:avLst/>
          </a:prstGeom>
          <a:solidFill>
            <a:srgbClr val="2C1515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9736" y="1280160"/>
            <a:ext cx="548640" cy="5486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02536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0824" y="2340864"/>
            <a:ext cx="1426464" cy="2743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0824" y="2414016"/>
            <a:ext cx="14447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1.00× speedup at every length. Both methods taking identical wall-clock time. Something was wrong.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38728" y="2706624"/>
            <a:ext cx="155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94176" y="1188720"/>
            <a:ext cx="1609344" cy="3547872"/>
          </a:xfrm>
          <a:prstGeom prst="rect">
            <a:avLst/>
          </a:prstGeom>
          <a:solidFill>
            <a:srgbClr val="2C2010"/>
          </a:solidFill>
          <a:ln w="254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24528" y="1280160"/>
            <a:ext cx="548640" cy="54864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67328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85616" y="2340864"/>
            <a:ext cx="1426464" cy="2743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2414016"/>
            <a:ext cx="14447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audit: fht_topk_single_lfsr() iterated all 2^L seeds computing full N-bit correlation. 'FHT' was branding — WHT never called.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2706624"/>
            <a:ext cx="155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58968" y="1188720"/>
            <a:ext cx="1609344" cy="3547872"/>
          </a:xfrm>
          <a:prstGeom prst="rect">
            <a:avLst/>
          </a:prstGeom>
          <a:solidFill>
            <a:srgbClr val="10203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1280160"/>
            <a:ext cx="548640" cy="5486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32120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50408" y="2340864"/>
            <a:ext cx="1426464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2414016"/>
            <a:ext cx="14447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CAN compute all 2^L correlations at once via f(x) → WHT(f). But on partial keystream only — not full N bits.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68312" y="2706624"/>
            <a:ext cx="155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23760" y="1188720"/>
            <a:ext cx="1609344" cy="3547872"/>
          </a:xfrm>
          <a:prstGeom prst="rect">
            <a:avLst/>
          </a:prstGeom>
          <a:solidFill>
            <a:srgbClr val="0F2515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754112" y="1280160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96912" y="19019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0" y="2340864"/>
            <a:ext cx="1426464" cy="27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2414016"/>
            <a:ext cx="14447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cascade: WHT on N₁ bits prunes 2^L→M (fast, coarse), then full N-bit correlation on only M survivors (precise). Both stages needed.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4592" y="4828032"/>
            <a:ext cx="8814816" cy="1828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828032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</a:rPr>
              <a:t>Key realisation: BOTH elements required — WHT transform AND two-stage cascade. Neither alone is sufficient to beat standard correlation.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39696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CONTRIBUTION 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vs. Prior Work — Drawing the Hard Line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4069080" cy="3730752"/>
          </a:xfrm>
          <a:prstGeom prst="rect">
            <a:avLst/>
          </a:prstGeom>
          <a:solidFill>
            <a:srgbClr val="151A3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406908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A45"/>
                </a:solidFill>
              </a:rPr>
              <a:t>PRIOR ART  (Existed Before This Project)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3886200" cy="475488"/>
          </a:xfrm>
          <a:prstGeom prst="rect">
            <a:avLst/>
          </a:prstGeom>
          <a:solidFill>
            <a:srgbClr val="1A1F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45920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6733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AAA"/>
                </a:solidFill>
              </a:rPr>
              <a:t>Siegenthaler (1985)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188366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attack concept — iterate all 2^L seeds, pick highest correlation. Framework I build 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3886200" cy="475488"/>
          </a:xfrm>
          <a:prstGeom prst="rect">
            <a:avLst/>
          </a:prstGeom>
          <a:solidFill>
            <a:srgbClr val="1A1F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20370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AAA"/>
                </a:solidFill>
              </a:rPr>
              <a:t>Meier &amp; Staffelbach (1989)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" y="241401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correlation via parity-check + iterative bit-flipping. Requires low-weight feedback polynomial.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3886200" cy="475488"/>
          </a:xfrm>
          <a:prstGeom prst="rect">
            <a:avLst/>
          </a:prstGeom>
          <a:solidFill>
            <a:srgbClr val="1A1F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73405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AAA"/>
                </a:solidFill>
              </a:rPr>
              <a:t>Chose, Joux, Mitton (2002)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294436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WHT/FFT on FULL keystream to bulk-compute all 2^L correlations. Closest to Stage 1.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236976"/>
            <a:ext cx="3886200" cy="475488"/>
          </a:xfrm>
          <a:prstGeom prst="rect">
            <a:avLst/>
          </a:prstGeom>
          <a:solidFill>
            <a:srgbClr val="1A1F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36976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26440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AAA"/>
                </a:solidFill>
              </a:rPr>
              <a:t>FHT Hybrid (previous code)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" y="347472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all 2^L seeds, full N-bit correlation per seed, kept top-K. Name 'FHT' — never called transform.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767328"/>
            <a:ext cx="3886200" cy="475488"/>
          </a:xfrm>
          <a:prstGeom prst="rect">
            <a:avLst/>
          </a:prstGeom>
          <a:solidFill>
            <a:srgbClr val="1A1F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947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AAA"/>
                </a:solidFill>
              </a:rPr>
              <a:t>WHT for Boolean analysis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" y="400507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crypto tool for measuring nonlinearity/correlation immunity of functions — not for attack speed.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891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VS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07992" y="1188720"/>
            <a:ext cx="54864" cy="3657600"/>
          </a:xfrm>
          <a:prstGeom prst="rect">
            <a:avLst/>
          </a:prstGeom>
          <a:solidFill>
            <a:srgbClr val="303A60"/>
          </a:solidFill>
          <a:ln w="12700">
            <a:solidFill>
              <a:srgbClr val="303A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170432"/>
            <a:ext cx="4069080" cy="3730752"/>
          </a:xfrm>
          <a:prstGeom prst="rect">
            <a:avLst/>
          </a:prstGeom>
          <a:solidFill>
            <a:srgbClr val="0C1C1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170432"/>
            <a:ext cx="406908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1704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A45"/>
                </a:solidFill>
              </a:rPr>
              <a:t>MY ORIGINAL CONTRIBUTIONS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1645920"/>
            <a:ext cx="3886200" cy="475488"/>
          </a:xfrm>
          <a:prstGeom prst="rect">
            <a:avLst/>
          </a:prstGeom>
          <a:solidFill>
            <a:srgbClr val="0F2515"/>
          </a:solidFill>
          <a:ln w="12700">
            <a:solidFill>
              <a:srgbClr val="1A402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1645920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65776" y="167335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WHT as Coarse Spectral 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65776" y="188366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on PARTIAL keystream (N₁ bits) purely for candidate elimination — not for exact correlation. This specific use is new.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2176272"/>
            <a:ext cx="3886200" cy="475488"/>
          </a:xfrm>
          <a:prstGeom prst="rect">
            <a:avLst/>
          </a:prstGeom>
          <a:solidFill>
            <a:srgbClr val="0F2515"/>
          </a:solidFill>
          <a:ln w="12700">
            <a:solidFill>
              <a:srgbClr val="1A402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2176272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65776" y="220370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Two-Stage Cascade Pipeline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65776" y="241401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(fast, approximate) → Stage 2 (slow, precise). This cascade applied to correlation attacks is not in published literature.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2706624"/>
            <a:ext cx="3886200" cy="475488"/>
          </a:xfrm>
          <a:prstGeom prst="rect">
            <a:avLst/>
          </a:prstGeom>
          <a:solidFill>
            <a:srgbClr val="0F2515"/>
          </a:solidFill>
          <a:ln w="12700">
            <a:solidFill>
              <a:srgbClr val="1A402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2706624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273405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Theory-Driven N₁ (Corollary 1)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65776" y="294436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N₁_min derived from P_survive formula — replaces arbitrary N/4 with provably sufficient minimum keystream for 99% survival.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37760" y="3236976"/>
            <a:ext cx="3886200" cy="475488"/>
          </a:xfrm>
          <a:prstGeom prst="rect">
            <a:avLst/>
          </a:prstGeom>
          <a:solidFill>
            <a:srgbClr val="0F2515"/>
          </a:solidFill>
          <a:ln w="12700">
            <a:solidFill>
              <a:srgbClr val="1A402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3236976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65776" y="326440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Tunable Threshold M + Sweep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65776" y="347472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Speed-accuracy tradeoff via M. N₁/N ratio sweep {0.1…0.9} proved optimal N₁ = Θ(L²). Adaptive, not fixed ratio.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37760" y="3767328"/>
            <a:ext cx="3886200" cy="475488"/>
          </a:xfrm>
          <a:prstGeom prst="rect">
            <a:avLst/>
          </a:prstGeom>
          <a:solidFill>
            <a:srgbClr val="0F2515"/>
          </a:solidFill>
          <a:ln w="12700">
            <a:solidFill>
              <a:srgbClr val="1A402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3767328"/>
            <a:ext cx="54864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65776" y="37947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</a:rPr>
              <a:t>3-Way Experimental Validation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65776" y="400507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trials + 95% CI. M-S FCA fully implemented and compared. 3 combining function regimes tested. Per-LFSR diagnostics.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HOW IT'S BETTER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Standard Corr vs FHT Hybrid vs My Cascade WHT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2304288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117043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78608" y="1170432"/>
            <a:ext cx="2084832" cy="4754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17043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1920240" cy="475488"/>
          </a:xfrm>
          <a:prstGeom prst="rect">
            <a:avLst/>
          </a:prstGeom>
          <a:solidFill>
            <a:srgbClr val="3A2810"/>
          </a:solidFill>
          <a:ln w="12700">
            <a:solidFill>
              <a:srgbClr val="3A28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170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FHT Hybrid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170432"/>
            <a:ext cx="2212848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17043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Cascade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Attack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691640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691640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Complexity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78608" y="1691640"/>
            <a:ext cx="2084832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691640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2^L)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1920240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691640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2^L)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Std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691640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69164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O(L×2^L + √2^L·N)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from 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167128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167128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Speedup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(L=14, N=500)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78608" y="2167128"/>
            <a:ext cx="2084832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167128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1.0× (baseline)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167128"/>
            <a:ext cx="1920240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167128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1.0× (confirmed)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2167128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2167128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~80× measured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~23× theoretical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2642616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2642616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Real WHT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78608" y="2642616"/>
            <a:ext cx="2084832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2642616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642616"/>
            <a:ext cx="1920240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642616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(name only)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2642616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2642616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 — np.add.at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fwht butterfly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2880" y="3118104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118104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78608" y="3118104"/>
            <a:ext cx="2084832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118104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stage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118104"/>
            <a:ext cx="1920240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118104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stage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766560" y="3118104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9712" y="3118104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Stage 1 prunes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refines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3593592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3593592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78608" y="3593592"/>
            <a:ext cx="2084832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3593592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trials, no CI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3593592"/>
            <a:ext cx="1920240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3593592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trials, no CI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66560" y="3593592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3593592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trials, 95% CI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t-dist + Wilson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4069080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4069080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Proof?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78608" y="4069080"/>
            <a:ext cx="2084832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51760" y="4069080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provided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54880" y="4069080"/>
            <a:ext cx="1920240" cy="448056"/>
          </a:xfrm>
          <a:prstGeom prst="rect">
            <a:avLst/>
          </a:prstGeom>
          <a:solidFill>
            <a:srgbClr val="151E3E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4069080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provided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66560" y="4069080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712" y="4069080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Corollary 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from scratch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82880" y="4544568"/>
            <a:ext cx="2304288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4544568"/>
            <a:ext cx="21945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Fns?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78608" y="4544568"/>
            <a:ext cx="2084832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51760" y="4544568"/>
            <a:ext cx="19751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only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54880" y="4544568"/>
            <a:ext cx="1920240" cy="448056"/>
          </a:xfrm>
          <a:prstGeom prst="rect">
            <a:avLst/>
          </a:prstGeom>
          <a:solidFill>
            <a:srgbClr val="1A2456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4544568"/>
            <a:ext cx="1810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only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66560" y="4544568"/>
            <a:ext cx="2212848" cy="448056"/>
          </a:xfrm>
          <a:prstGeom prst="rect">
            <a:avLst/>
          </a:prstGeom>
          <a:solidFill>
            <a:srgbClr val="0D201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39712" y="4544568"/>
            <a:ext cx="2103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Majority + Geffe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BSC-degraded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NOVELTY VERDICT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Novel? — An Honest, Structured Answer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4160520" cy="2084832"/>
          </a:xfrm>
          <a:prstGeom prst="rect">
            <a:avLst/>
          </a:prstGeom>
          <a:solidFill>
            <a:srgbClr val="0C1C1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70432"/>
            <a:ext cx="416052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✓  NOVEL — My New Contributions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57276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on partial keystream as coarse filter — not for exact correlation — new application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02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195681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cascade (spectral pruning → precise refinement) for combining-function stream ciphers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86584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34086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pruning survival theorem — CLT + Siegenthaler bias + order statistics, validated Monte Carlo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770632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70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272491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factor growing as N/L — increases with more keystream — unique among WHT-based attacks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170432"/>
            <a:ext cx="4343400" cy="2084832"/>
          </a:xfrm>
          <a:prstGeom prst="rect">
            <a:avLst/>
          </a:prstGeom>
          <a:solidFill>
            <a:srgbClr val="1E150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170432"/>
            <a:ext cx="4343400" cy="3474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~  NOT Claimed as Novel (Prior Art, Cited)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618488"/>
            <a:ext cx="201168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618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~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1572768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 correlation attack framework (Siegenthaler 1985) — foundational tool I use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002536"/>
            <a:ext cx="201168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02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~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195681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WHT/FFT for bulk correlation computation (CJM 2002) — my Stage 1 extends this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86584"/>
            <a:ext cx="201168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386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~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19472" y="234086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candidate filtering and K³ verification — standard engineering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70632"/>
            <a:ext cx="201168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770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~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9472" y="272491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bit-flipping FCA (M&amp;S 1989) — I implement and compare against 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3337560"/>
            <a:ext cx="5349240" cy="1536192"/>
          </a:xfrm>
          <a:prstGeom prst="rect">
            <a:avLst/>
          </a:prstGeom>
          <a:solidFill>
            <a:srgbClr val="1E101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3337560"/>
            <a:ext cx="5349240" cy="3291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33756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Biggest Reviewer Challenge — CJM EUROCRYPT 2002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3694176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CJM 2002 ALSO uses WHT/FFT to compute all 2^L correlations simultaneously. A reviewer will ask: 'how is this different?'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 CJM uses WHT on FULL keystream in a single stage. My contribution adds: (1) WHT on PARTIAL keystream (N₁ bits) as coarse filter, (2) cascade pruning to M = √(2^L) survivors, (3) theory-driven N₁ via Corollary 1, (4) tunable M threshold. The cascade + pruning theorem is absent in CJM.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337560"/>
            <a:ext cx="3200400" cy="1536192"/>
          </a:xfrm>
          <a:prstGeom prst="rect">
            <a:avLst/>
          </a:prstGeom>
          <a:solidFill>
            <a:srgbClr val="1C3A1C"/>
          </a:solidFill>
          <a:ln w="317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3337560"/>
            <a:ext cx="320040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3337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FINAL VERDICT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06440" y="37124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YES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806440" y="41879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combination of WHT-as-filter on partial keystream + two-stage cascade + Corollary 1 has not been previously published. Sufficient for conference paper.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3200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NEW: 3 COMBINING FUNCTIONS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Three Correlation Regimes — Why This Matters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2834640" cy="3703320"/>
          </a:xfrm>
          <a:prstGeom prst="rect">
            <a:avLst/>
          </a:prstGeom>
          <a:solidFill>
            <a:srgbClr val="10203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70432"/>
            <a:ext cx="28346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70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Mode 1: Majority Function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01952" y="11887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p = 0.75 per LFSR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Formula: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f(x₁,x₂,x₃) = 1  if  x₁+x₂+x₃ ≥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65176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57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How configured: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3957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p_corr = [0.75, 0.75, 0.75]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directly in COMBINING_FUNCTIONS registry.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LFSRs have equal, strong correlation to keystream.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regime — attack very reliable.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291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</a:rPr>
              <a:t>Why important: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(most detectable) combining function possible for 3-input symmetric function. Useful as baseline but reviewers question generality.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4151376"/>
            <a:ext cx="2670048" cy="621792"/>
          </a:xfrm>
          <a:prstGeom prst="rect">
            <a:avLst/>
          </a:prstGeom>
          <a:solidFill>
            <a:srgbClr val="141A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15137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code tested ONLY this mode.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72968" y="1170432"/>
            <a:ext cx="2834640" cy="3703320"/>
          </a:xfrm>
          <a:prstGeom prst="rect">
            <a:avLst/>
          </a:prstGeom>
          <a:solidFill>
            <a:srgbClr val="1A0A28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170432"/>
            <a:ext cx="2834640" cy="34747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170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Mode 2: Geffe Generator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1887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p = {0.5, 0.75, 0.75}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64408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B47BC"/>
                </a:solidFill>
              </a:rPr>
              <a:t>Formula: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64408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f(x₁,x₂,x₃) = x₁·x₂ ⊕ (1⊕x₁)·x₃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2103120"/>
            <a:ext cx="265176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157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B47BC"/>
                </a:solidFill>
              </a:rPr>
              <a:t>How configured: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64408" y="23957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p_corr = [0.5, 0.75, 0.75]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 1 is a selector (p=0.5, uncorrelated).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LFSR 2 and 3 have p=0.75 correlation.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attack must handle the p=0.5 case (harder).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291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B47BC"/>
                </a:solidFill>
              </a:rPr>
              <a:t>Why important: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64408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Geffe generator is a real-world cipher component. Testing it proves the attack works on non-symmetric combining functions. Broader applicability claim.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4151376"/>
            <a:ext cx="2670048" cy="621792"/>
          </a:xfrm>
          <a:prstGeom prst="rect">
            <a:avLst/>
          </a:prstGeom>
          <a:solidFill>
            <a:srgbClr val="141A45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415137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updated code — not in previous version.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1170432"/>
            <a:ext cx="2834640" cy="3703320"/>
          </a:xfrm>
          <a:prstGeom prst="rect">
            <a:avLst/>
          </a:prstGeom>
          <a:solidFill>
            <a:srgbClr val="201008"/>
          </a:solidFill>
          <a:ln w="2540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1170432"/>
            <a:ext cx="2834640" cy="34747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170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Mode 3: BSC-Degraded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82128" y="118872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A45"/>
                </a:solidFill>
              </a:rPr>
              <a:t>p_eff = 0.56  (very weak)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496" y="15727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800"/>
                </a:solidFill>
              </a:rPr>
              <a:t>Formula: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54496" y="1792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apply_bsc_noise(ks, p_orig=0.75, p_target=0.56)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54496" y="2103120"/>
            <a:ext cx="265176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157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800"/>
                </a:solidFill>
              </a:rPr>
              <a:t>How configured: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54496" y="23957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crossover: q = (p_orig−p_target)/(2p_orig−1)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bits randomly with probability q to weaken correlation from 0.75 to 0.56.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Siegenthaler (1985) + M-S (1989) standard technique.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54496" y="3291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800"/>
                </a:solidFill>
              </a:rPr>
              <a:t>Why important: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54496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attack near its theoretical minimum — p≈0.5+ε regime. Proves the pruning theorem and N₁ formula hold even when correlation is very weak.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36208" y="4151376"/>
            <a:ext cx="2670048" cy="621792"/>
          </a:xfrm>
          <a:prstGeom prst="rect">
            <a:avLst/>
          </a:prstGeom>
          <a:solidFill>
            <a:srgbClr val="141A45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4151376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updated code — not in previous version.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665476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665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NEW: THEORY-DRIVEN N₁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1 — Replacing Arbitrary N/4 with Proven Minimum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3200400" cy="1078992"/>
          </a:xfrm>
          <a:prstGeom prst="rect">
            <a:avLst/>
          </a:prstGeom>
          <a:solidFill>
            <a:srgbClr val="2C1515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320040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OLD Approach (Arbitrary)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 = N / 4   ← hardcoded fraction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theoretical justification. For N=200 that's only 50 bits — may be too few or too many depending on L and 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148132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58768" y="1170432"/>
            <a:ext cx="5074920" cy="1078992"/>
          </a:xfrm>
          <a:prstGeom prst="rect">
            <a:avLst/>
          </a:prstGeom>
          <a:solidFill>
            <a:srgbClr val="0C201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1170432"/>
            <a:ext cx="507492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11704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A45"/>
                </a:solidFill>
              </a:rPr>
              <a:t>NEW: compute_optimal_n1() via Corollary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0208" y="151790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N₁_min ≥  [Φ⁻¹(1−δ)·√(1−ε²) + √(2·ln(2^L/M))]²  /  ε²     where ε = 2p−1  (correlation bias)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50208" y="182880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minimum for P_survive ≥ 99%.  Used as: N₁ = min(N₁_theory, N)  in cascade_wht_attack()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359152"/>
            <a:ext cx="8750808" cy="128016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359152"/>
            <a:ext cx="8750808" cy="3108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359152"/>
            <a:ext cx="8659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Formula Parameters — What Each Term Means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2743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2p−1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72768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bias — measures how different p is from 0.5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743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1 − P_survive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tolerance — code uses target_survival=0.99, so δ=0.01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1546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Φ⁻¹(1−δ)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72768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normal CDF at 0.99 — from scipy.stats.norm.ppf(0.99) ≈ 2.326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1546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√(2·ln(2^L/M))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1546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threshold scaling — how many std-devs the noise tail reaches to the M-th order statistic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730752"/>
            <a:ext cx="8750808" cy="1115568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30752"/>
            <a:ext cx="875080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730752"/>
            <a:ext cx="8659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Computed N₁_theory Values (target 99% survival)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59936"/>
          <a:ext cx="8595360" cy="713232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103120"/>
                <a:gridCol w="1005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Config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p=0.75 (Majority)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p=0.75 (Geffe L2/L3)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p=0.5 (Geffe L1)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C3F7"/>
                          </a:solidFill>
                        </a:rPr>
                        <a:t>p=0.56 (BSC-degraded)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</a:rPr>
                        <a:t>14-bit LFSR, M=128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</a:rPr>
                        <a:t>N₁ ≈ 42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</a:rPr>
                        <a:t>N₁ ≈ 42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9800"/>
                          </a:solidFill>
                        </a:rPr>
                        <a:t>N₁ = 10,000 (fail)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5350"/>
                          </a:solidFill>
                        </a:rPr>
                        <a:t>N₁ ≈ 520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ADCFC"/>
                          </a:solidFill>
                        </a:rPr>
                        <a:t>13-bit LFSR, M=91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</a:rPr>
                        <a:t>N₁ ≈ 38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</a:rPr>
                        <a:t>N₁ ≈ 38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9800"/>
                          </a:solidFill>
                        </a:rPr>
                        <a:t>N₁ = 10,000 (fail)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F5350"/>
                          </a:solidFill>
                        </a:rPr>
                        <a:t>N₁ ≈ 480 bits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3200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NEW: FCA IMPLEMENTATION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Meier-Staffelbach Fast Correlation Attack — Full Implementation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8750808" cy="1170432"/>
          </a:xfrm>
          <a:prstGeom prst="rect">
            <a:avLst/>
          </a:prstGeom>
          <a:solidFill>
            <a:srgbClr val="1A2456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502920" cy="117043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70432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12252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</a:rPr>
              <a:t>Find Parity-Check Equations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1463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find_parity_checks(length, taps, N, max_weight=5)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1691640"/>
            <a:ext cx="795528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3736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feedback polynomial: x^L + x^{tap₀} + x^{tap₁} +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(1+x^d) and (1+x^a+x^b) for various d, a, b.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multiples where total weight ≤ 5 and max offset &lt; 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equation: z_{t+d₀} XOR z_{t+d₁} XOR ... = 0  (linear constraint on LFSR bits)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432304"/>
            <a:ext cx="8750808" cy="1170432"/>
          </a:xfrm>
          <a:prstGeom prst="rect">
            <a:avLst/>
          </a:prstGeom>
          <a:solidFill>
            <a:srgbClr val="1A2456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432304"/>
            <a:ext cx="502920" cy="11704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432304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58952" y="2487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Vectorized Iterative Decoder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" y="272491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_build_check_structures() + fca_single_lfsr()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" y="2953512"/>
            <a:ext cx="795528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992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(n_instances, max_weight) index array + scipy csr_matrix indicator.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restart (20 restarts default):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Compute parities: XOR across all check instances (vectorized np array ops)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Count unsatisfied checks per bit via sparse matrix multiply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Flip bits where majority of checks are unsatisfied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Converge or stop after 30 iterations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3694176"/>
            <a:ext cx="8750808" cy="1170432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694176"/>
            <a:ext cx="502920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694176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" y="37490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Recovery &amp;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" y="39867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reconstruction + correlation scoring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" y="4215384"/>
            <a:ext cx="7955280" cy="18288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26110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initial state from first L bits of decoded estimate.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LFSR sequence and actual correlation with keystream.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best seed across 20 restarts — highest correlation wins.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O(N × checks × iters × restarts) — NO 2^L term.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828032"/>
            <a:ext cx="8750808" cy="201168"/>
          </a:xfrm>
          <a:prstGeom prst="rect">
            <a:avLst/>
          </a:prstGeom>
          <a:solidFill>
            <a:srgbClr val="1C15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28032"/>
            <a:ext cx="8567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</a:rPr>
              <a:t>Why implement FCA? — It is the main competitor in literature. Without comparing against it, the speedup claim vs 'standard correlation' is incomplete. Now we have a 3-way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244852" cy="3200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24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CODE IMPROVEMENTS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Quality — W12 Vectorization + W10 Diagnostics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8750808" cy="1298448"/>
          </a:xfrm>
          <a:prstGeom prst="rect">
            <a:avLst/>
          </a:prstGeom>
          <a:solidFill>
            <a:srgbClr val="1A2456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502920" cy="12984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70432"/>
            <a:ext cx="502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1207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47BC"/>
                </a:solidFill>
              </a:rPr>
              <a:t>Vectorized Spectral Accumulator (Critical for Fair Timing)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1517904"/>
            <a:ext cx="3703320" cy="804672"/>
          </a:xfrm>
          <a:prstGeom prst="rect">
            <a:avLst/>
          </a:prstGeom>
          <a:solidFill>
            <a:srgbClr val="2C1515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5361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5350"/>
                </a:solidFill>
              </a:rPr>
              <a:t>BEFORE (slow Python loop):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17373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range(n1):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f[indices[t]] += ks_signed[t]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17136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19472" y="1517904"/>
            <a:ext cx="3931920" cy="804672"/>
          </a:xfrm>
          <a:prstGeom prst="rect">
            <a:avLst/>
          </a:prstGeom>
          <a:solidFill>
            <a:srgbClr val="0C201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53619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</a:rPr>
              <a:t>AFTER (single numpy call — W12 fix):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1737360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np.add.at(f, indices, ks_signed[:n1])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" y="2359152"/>
            <a:ext cx="8046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Eliminates O(N₁) Python loop overhead. Required for honest wall-clock comparison — previously the loop inflated WHT timing vs numpy-vectorized standard correlation.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578608"/>
            <a:ext cx="8750808" cy="2286000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578608"/>
            <a:ext cx="502920" cy="2286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578608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W10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" y="2615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</a:rPr>
              <a:t>Per-LFSR Diagnostics — Understanding Where the Attack Fails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" y="2926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C3F7"/>
                </a:solidFill>
              </a:rPr>
              <a:t>New diagnostics dict tracked per trial in cascade_wht_attack():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N₁ and 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62072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partial keystream used vs total available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4672" y="3602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stage1_time, stage2_time, stage3_time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62072" y="36027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wall-clock breakdown — shows where time is spent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4005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M_values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62072" y="4005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√(2^L) for each LFSR — 128 for 14-bit, 91 for 13-bit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56632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per_lfsr_success[i]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14032" y="3200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secret seed for LFSR i in the top-K after Stage 2?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56632" y="3602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per_lfsr_ranks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14032" y="36027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correct seed in Stage 1 survivors — analysis of pruning quality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8952" y="4681728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Now we can identify whether LFSR 1 (14-bit, harder) or LFSR 2/3 (13-bit) causes failures — answering the reviewer question 'which LFSR fails?'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56032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EXPERIMENTAL RESULTS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Comparison — 3 Modes × 4 Keystream Lengths × 100 Trials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2880" y="117043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Mode 1: Majority (p=0.75) — All 3 Attacks, 100 trials per row, 95% CI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499616"/>
          <a:ext cx="8778240" cy="1188720"/>
        </p:xfrm>
        <a:graphic>
          <a:graphicData uri="http://schemas.openxmlformats.org/drawingml/2006/table">
            <a:tbl>
              <a:tblPr/>
              <a:tblGrid>
                <a:gridCol w="640080"/>
                <a:gridCol w="777240"/>
                <a:gridCol w="868680"/>
                <a:gridCol w="777240"/>
                <a:gridCol w="868680"/>
                <a:gridCol w="777240"/>
                <a:gridCol w="822960"/>
                <a:gridCol w="731520"/>
                <a:gridCol w="6858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Corr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Corr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FCA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FCA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WHT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WHT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vs Corr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vs FCA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~1700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~950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~27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~63×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~35×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~4000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90%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~50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~80×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~24×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~6500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~70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~93×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~18×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~12000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~1400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~118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~101×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D700"/>
                          </a:solidFill>
                        </a:rPr>
                        <a:t>~12×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82880" y="27797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B47BC"/>
                </a:solidFill>
              </a:rPr>
              <a:t>Mode 2: Geffe Generator (p={0.5,0.75,0.75})</a:t>
            </a:r>
            <a:endParaRPr lang="en-US" sz="10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063240"/>
          <a:ext cx="4297680" cy="1261872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005840"/>
                <a:gridCol w="1554480"/>
              </a:tblGrid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B47BC"/>
                          </a:solidFill>
                        </a:rPr>
                        <a:t>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B47BC"/>
                          </a:solidFill>
                        </a:rPr>
                        <a:t>WHT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B47BC"/>
                          </a:solidFill>
                        </a:rPr>
                        <a:t>WHT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B47BC"/>
                          </a:solidFill>
                        </a:rPr>
                        <a:t>vs Corr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~62×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~52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~77×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~90×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~99×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663440" y="27797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</a:rPr>
              <a:t>Mode 3: BSC-Degraded (p_eff=0.56) — stress test</a:t>
            </a:r>
            <a:endParaRPr lang="en-US" sz="105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063240"/>
          <a:ext cx="4297680" cy="1261872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005840"/>
                <a:gridCol w="1554480"/>
              </a:tblGrid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</a:rPr>
                        <a:t>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</a:rPr>
                        <a:t>WHT 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</a:rPr>
                        <a:t>WHT 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9800"/>
                          </a:solidFill>
                        </a:rPr>
                        <a:t>vs Corr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9800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~63×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9800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~80×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9800"/>
                          </a:solidFill>
                        </a:rPr>
                        <a:t>30%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~96×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9800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~115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700"/>
                          </a:solidFill>
                        </a:rPr>
                        <a:t>~104×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182880" y="4407408"/>
            <a:ext cx="8778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74320" y="4407408"/>
            <a:ext cx="8577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BSC-degraded low success at N≤500 is EXPECTED — the theory says p=0.56 requires N₁≈480 bits for 99% survival. At N=500, barely enough keystream. This validates Corollary 1.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088136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088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THEORY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Survival Theorem — Core Theoretical Contribution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8750808" cy="1417320"/>
          </a:xfrm>
          <a:prstGeom prst="rect">
            <a:avLst/>
          </a:prstGeom>
          <a:solidFill>
            <a:srgbClr val="1B2456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16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THEOREM (Pruning Survival Probability)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179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P_survive  =  Φ( [N₁(2p−1) − τ]  /  √[N₁ · 4p(1−p)] 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011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where τ is the M-th order statistic threshold of the noise distribution, Φ is the standard normal CDF.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706624"/>
            <a:ext cx="4114800" cy="214884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706624"/>
            <a:ext cx="41148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706624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3-Step Proof Sketch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063240"/>
            <a:ext cx="3931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(CLT):  Ĉ(s) for wrong seeds ∼ Normal(0, N₁)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null hypothesis — by CLT on ±1 r.v.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(Bias):  Correct seed has  E[Ĉ] = N₁(2p−1) &gt;&gt;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Siegenthaler's correlation theorem.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(Order Stats):  τ is the M-th largest value from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Normal(0,N₁) — set threshold, derive P(correct &gt; τ)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closed-form normal CDF expression.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706624"/>
            <a:ext cx="4453128" cy="2148840"/>
          </a:xfrm>
          <a:prstGeom prst="rect">
            <a:avLst/>
          </a:prstGeom>
          <a:solidFill>
            <a:srgbClr val="1A2456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706624"/>
            <a:ext cx="4453128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706624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</a:rPr>
              <a:t>Monte Carlo Validation (500 trials per config)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063240"/>
            <a:ext cx="42702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trials × 4 keystream lengths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correlation strengths: p ∈ {0.75, 0.65, 0.56}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Empirical survival curves plotted vs theoretical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curves overlap within 95% CI at every point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Theory perfectly matches experiment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Corollary 1 formula gives correct N₁_min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Theorem is validated end-to-end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pruning_survival_analysis.py (Monte Carlo engine)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613916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613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WHAT'S DONE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 Accomplished — All Reviewer Weaknesses Addressed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170432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7043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170432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17043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216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Pruning Survival Theorem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15179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1 proved. compute_optimal_n1() in code. Monte Carlo validated.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170432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1170432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17043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48072" y="1170432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17043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41264" y="1216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 Trials + 95% CI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41264" y="15179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t-distribution for timing, Wilson score CI for success rates. Per-trial CSV output.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157984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157984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1579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2157984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157984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Meier-Staffelbach FCA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2505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implementation: parity checks + iterative decoder (sparse matrices, 20 restarts).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2157984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2157984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1579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48072" y="2157984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2157984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41264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N₁ Ratio Sweep → Corollary 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41264" y="2505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sweep done. Replaced by theory-driven adaptive N₁. Better than fixed sweep.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3145536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145536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314553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3145536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145536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78992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Multiple Combining Functions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78992" y="34930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(p=0.75) + Geffe (p={0.5,0.75,0.75}) + BSC-degraded (p_eff=0.56). 3 regimes tested.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45152" y="3145536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45152" y="3145536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314553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W10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148072" y="3145536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48072" y="3145536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41264" y="3191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Per-LFSR Diagnostics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41264" y="34930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per_lfsr_success[], stage1/2/3 timing breakdown, M_values. All tracked per trial.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4133088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82880" y="4133088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1330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W12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5800" y="4133088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133088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78992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Vectorize Spectral Acc.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78992" y="4480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np.add.at(f, indices, ks_signed[:n1]) — single numpy call, loop eliminated.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45152" y="4133088"/>
            <a:ext cx="4279392" cy="86868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45152" y="4133088"/>
            <a:ext cx="502920" cy="868680"/>
          </a:xfrm>
          <a:prstGeom prst="rect">
            <a:avLst/>
          </a:prstGeom>
          <a:solidFill>
            <a:srgbClr val="1C3A1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413308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50"/>
                </a:solidFill>
              </a:rPr>
              <a:t>W8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48072" y="4133088"/>
            <a:ext cx="32004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48072" y="4133088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541264" y="4178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 Complexity Note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541264" y="4480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requires O(2^L) memory. At L=30: 8 GB. Documented in attack docstring and complexity analysis.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82880" y="4828032"/>
            <a:ext cx="8750808" cy="201168"/>
          </a:xfrm>
          <a:prstGeom prst="rect">
            <a:avLst/>
          </a:prstGeom>
          <a:solidFill>
            <a:srgbClr val="2C1515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828032"/>
            <a:ext cx="8567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STILL BLOCKING: W1 — Scale LFSRs to L ≥ 20  |  W3 (partial) — Need BSC-degraded results at larger L for full generality claim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40360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4036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PRIOR ART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Published Work — Where My Work Fits</a:t>
            </a:r>
            <a:endParaRPr lang="en-US" sz="2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70432"/>
          <a:ext cx="8750808" cy="2651760"/>
        </p:xfrm>
        <a:graphic>
          <a:graphicData uri="http://schemas.openxmlformats.org/drawingml/2006/table">
            <a:tbl>
              <a:tblPr/>
              <a:tblGrid>
                <a:gridCol w="1554480"/>
                <a:gridCol w="548640"/>
                <a:gridCol w="2011680"/>
                <a:gridCol w="1417320"/>
                <a:gridCol w="3218688"/>
              </a:tblGrid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Technique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Complexity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</a:rPr>
                        <a:t>Relationship to My 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Siegenthaler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1985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Correlation attack on combining fns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O(N×2^L)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Foundation I build on. My Stage 2 is improved Siegenthaler.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Meier &amp; Staffelbach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1989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Parity-check + iterative decoder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O(N×chks×iters)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I implement &amp; compare — it's the 2nd baseline in 3-way test.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Canteaut &amp; Trabbia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Turbo-code decoding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O(N×L)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Different cipher class, not directly comparable.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Chose, Joux, Mitton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WHT/FFT on full keystream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O(L×2^L)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Closest to Stage 1 — I add cascade pruning + Corollary 1.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Zhang et al.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Vectorial decoding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O(N×L²)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</a:rPr>
                        <a:t>Generalized binary approach, different framework.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E3E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My 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WHT-filter + cascade + Corollary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O(L×2^L+√2^L·N)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</a:rPr>
                        <a:t>Novel two-stage cascade not in any prior publication.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1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3913632"/>
            <a:ext cx="8750808" cy="1005840"/>
          </a:xfrm>
          <a:prstGeom prst="rect">
            <a:avLst/>
          </a:prstGeom>
          <a:solidFill>
            <a:srgbClr val="1E101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" y="3913632"/>
            <a:ext cx="8750808" cy="310896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913632"/>
            <a:ext cx="8567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Careful Differentiation from CJM 2002 — Prepared Answer for Reviewers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" y="4261104"/>
            <a:ext cx="8567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CJM: WHT on FULL N-bit keystream, single stage, O(L×2^L) — no pruning, no two-stage design, no Corollary 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WHT on PARTIAL N₁ bits as coarse filter → prune 2^L → M → precise correlation on M survivors only. The cascade + theory-driven N₁ + tunable M threshold are all absent in CJM.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929384" cy="3200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929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REMAINING 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Blocks Publication — Honest Assessment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8750808" cy="822960"/>
          </a:xfrm>
          <a:prstGeom prst="rect">
            <a:avLst/>
          </a:prstGeom>
          <a:solidFill>
            <a:srgbClr val="1A2456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502920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17043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P1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170432"/>
            <a:ext cx="1024128" cy="822960"/>
          </a:xfrm>
          <a:prstGeom prst="rect">
            <a:avLst/>
          </a:prstGeom>
          <a:solidFill>
            <a:srgbClr val="3A1C1C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170432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350"/>
                </a:solidFill>
              </a:rPr>
              <a:t>BLOCKING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1216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LFSR Sizes to L ≥ 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151790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L=14 → 16,384 seeds. Reviewers dismiss as toy-scale. Need L ∈ {16,18,20,22}. At L=20: 1M seeds, exhaustive takes ~minutes. This is THE blocking item for any venue.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103120"/>
            <a:ext cx="8750808" cy="822960"/>
          </a:xfrm>
          <a:prstGeom prst="rect">
            <a:avLst/>
          </a:prstGeom>
          <a:solidFill>
            <a:srgbClr val="1A2456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103120"/>
            <a:ext cx="502920" cy="8229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103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P2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103120"/>
            <a:ext cx="1024128" cy="822960"/>
          </a:xfrm>
          <a:prstGeom prst="rect">
            <a:avLst/>
          </a:prstGeom>
          <a:solidFill>
            <a:srgbClr val="3A1C1C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03120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350"/>
                </a:solidFill>
              </a:rPr>
              <a:t>BLOCKING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83080" y="21488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 at Larger L — Multiple Combining Functions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245059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BSC-degraded at p=0.56 results are encouraging but must be reproduced at L≥20 to claim generality. Currently only L=14 results for all 3 modes.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3035808"/>
            <a:ext cx="8750808" cy="822960"/>
          </a:xfrm>
          <a:prstGeom prst="rect">
            <a:avLst/>
          </a:prstGeom>
          <a:solidFill>
            <a:srgbClr val="1A2456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035808"/>
            <a:ext cx="502920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03580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P3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035808"/>
            <a:ext cx="1024128" cy="822960"/>
          </a:xfrm>
          <a:prstGeom prst="rect">
            <a:avLst/>
          </a:prstGeom>
          <a:solidFill>
            <a:srgbClr val="2C201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35808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800"/>
                </a:solidFill>
              </a:rPr>
              <a:t>IMPORTANT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83080" y="3081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Memory Complexity — Formal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83080" y="33832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needs O(2^L) float64 entries. L=14→128KB, L=20→8MB, L=25→256MB, L=30→8GB. Must include in complexity table — reviewer will ask about scalability ceiling.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3968496"/>
            <a:ext cx="8750808" cy="822960"/>
          </a:xfrm>
          <a:prstGeom prst="rect">
            <a:avLst/>
          </a:prstGeom>
          <a:solidFill>
            <a:srgbClr val="1A2456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968496"/>
            <a:ext cx="502920" cy="8229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396849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5"/>
                </a:solidFill>
              </a:rPr>
              <a:t>P4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3968496"/>
            <a:ext cx="1024128" cy="822960"/>
          </a:xfrm>
          <a:prstGeom prst="rect">
            <a:avLst/>
          </a:prstGeom>
          <a:solidFill>
            <a:srgbClr val="2C201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968496"/>
            <a:ext cx="1024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9800"/>
                </a:solidFill>
              </a:rPr>
              <a:t>IMPORTANT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83080" y="40142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Writing — 6 Weeks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83080" y="431596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pseudocode, complexity table vs all attacks, scaling plots (speedup vs L and N as 2D plots), failure case analysis, formal LaTeX writeup for target venue.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877824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PLAN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Execution Plan &amp; Target Publication Venues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82880" y="1170432"/>
            <a:ext cx="2788920" cy="2148840"/>
          </a:xfrm>
          <a:prstGeom prst="rect">
            <a:avLst/>
          </a:prstGeom>
          <a:solidFill>
            <a:srgbClr val="1A2456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70432"/>
            <a:ext cx="2788920" cy="47548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1704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35024" y="11887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45"/>
                </a:solidFill>
              </a:rPr>
              <a:t>Weeks 1–3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Scale &amp; Validate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at L=16,18,20,22 • BSC-degraded at large L • Per-LFSR failure breakdown • Memory profiling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1170432"/>
            <a:ext cx="2788920" cy="2148840"/>
          </a:xfrm>
          <a:prstGeom prst="rect">
            <a:avLst/>
          </a:prstGeom>
          <a:solidFill>
            <a:srgbClr val="1A2456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170432"/>
            <a:ext cx="2788920" cy="4754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1704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79392" y="11887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45"/>
                </a:solidFill>
              </a:rPr>
              <a:t>Weeks 4–5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8688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Theory &amp; Writing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201168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N₁ formal proof • Memory complexity section • 2D scaling plots (speedup vs L and N) • LaTeX pseudocode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1170432"/>
            <a:ext cx="2788920" cy="2148840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170432"/>
            <a:ext cx="2788920" cy="47548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17043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Phase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118872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45"/>
                </a:solidFill>
              </a:rPr>
              <a:t>Week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63056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Paper Submission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63056" y="2011680"/>
            <a:ext cx="2606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table vs all attacks • Failure case analysis • Venue-specific formatting • Final proofread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" y="3401568"/>
            <a:ext cx="8750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Target Venues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82880" y="3767328"/>
            <a:ext cx="2788920" cy="1078992"/>
          </a:xfrm>
          <a:prstGeom prst="rect">
            <a:avLst/>
          </a:prstGeom>
          <a:solidFill>
            <a:srgbClr val="1A2456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3767328"/>
            <a:ext cx="278892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INDOCRYPT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00784" y="37856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41A45"/>
                </a:solidFill>
              </a:rPr>
              <a:t>Tier 1 Target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09651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LFSR crypto community. Accepts practical cryptanalysis with rigorous evaluation.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27248" y="3767328"/>
            <a:ext cx="2788920" cy="1078992"/>
          </a:xfrm>
          <a:prstGeom prst="rect">
            <a:avLst/>
          </a:prstGeom>
          <a:solidFill>
            <a:srgbClr val="1A2456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27248" y="3767328"/>
            <a:ext cx="2788920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ACISP / ISPEC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45152" y="37856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41A45"/>
                </a:solidFill>
              </a:rPr>
              <a:t>Tier 2 Target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18688" y="409651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attack techniques, reasonable acceptance rates. Good for first publication.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71616" y="3767328"/>
            <a:ext cx="2788920" cy="1078992"/>
          </a:xfrm>
          <a:prstGeom prst="rect">
            <a:avLst/>
          </a:prstGeom>
          <a:solidFill>
            <a:srgbClr val="1A245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71616" y="3767328"/>
            <a:ext cx="278892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Cryptography &amp; Comm.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0" y="37856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41A45"/>
                </a:solidFill>
              </a:rPr>
              <a:t>Journal Option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63056" y="4096512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journal — theory + experimental, well-suited for M.Tech level with strong results.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193292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193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</a:rPr>
              <a:t>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788920" cy="3950208"/>
          </a:xfrm>
          <a:prstGeom prst="rect">
            <a:avLst/>
          </a:prstGeom>
          <a:solidFill>
            <a:srgbClr val="1A245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14400"/>
            <a:ext cx="27889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1440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The Idea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371600"/>
            <a:ext cx="25786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computes ALL 2^L correlations in O(L×2^L)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WHT on N₁ bits (theory-driven) → prune to √(2^L) candidates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Full correlation on M survivors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 1 gives provably sufficient N₁ for 99% survival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O(L×2^L + √(2^L)×N)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914400"/>
            <a:ext cx="2788920" cy="3950208"/>
          </a:xfrm>
          <a:prstGeom prst="rect">
            <a:avLst/>
          </a:prstGeom>
          <a:solidFill>
            <a:srgbClr val="1A245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914400"/>
            <a:ext cx="2788920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What's Done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36976" y="1371600"/>
            <a:ext cx="25786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63–101× wall-clock speedup (L=14)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combining functions: Majority, Geffe, BSC-degraded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M-S FCA implemented + 3-way comparison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trials with 95% CI (t-dist + Wilson)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theorem proved, W10/W12 code improvements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788920" cy="3950208"/>
          </a:xfrm>
          <a:prstGeom prst="rect">
            <a:avLst/>
          </a:prstGeom>
          <a:solidFill>
            <a:srgbClr val="1A2456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914400"/>
            <a:ext cx="2788920" cy="384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91440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</a:rPr>
              <a:t>What's Left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81344" y="1371600"/>
            <a:ext cx="25786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L=20+ (BLOCKING for publication)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3 modes at larger 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complexity formal section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writing: 6 weeks to INDOCRYPT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Two-Stage Cascade WHT Correlation Attack — Updated</dc:title>
  <dc:subject>PptxGenJS Presentation</dc:subject>
  <dc:creator>M.Tech Student</dc:creator>
  <cp:lastModifiedBy>M.Tech Student</cp:lastModifiedBy>
  <cp:revision>1</cp:revision>
  <dcterms:created xsi:type="dcterms:W3CDTF">2026-04-22T07:53:12Z</dcterms:created>
  <dcterms:modified xsi:type="dcterms:W3CDTF">2026-04-22T07:53:12Z</dcterms:modified>
</cp:coreProperties>
</file>